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3"/>
          </a:solidFill>
          <a:ln>
            <a:solidFill>
              <a:srgbClr val="14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9784080" y="640080"/>
            <a:ext cx="1280160" cy="1280160"/>
          </a:xfrm>
          <a:prstGeom prst="hexagon">
            <a:avLst/>
          </a:prstGeom>
          <a:solidFill>
            <a:srgbClr val="676F74"/>
          </a:solidFill>
          <a:ln>
            <a:solidFill>
              <a:srgbClr val="67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607040" y="1371600"/>
            <a:ext cx="777240" cy="777240"/>
          </a:xfrm>
          <a:prstGeom prst="hexagon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235440" y="1828800"/>
            <a:ext cx="566928" cy="566928"/>
          </a:xfrm>
          <a:prstGeom prst="hexagon">
            <a:avLst/>
          </a:prstGeom>
          <a:solidFill>
            <a:srgbClr val="308484"/>
          </a:solidFill>
          <a:ln>
            <a:solidFill>
              <a:srgbClr val="3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0241280" y="5074920"/>
            <a:ext cx="1143000" cy="1143000"/>
          </a:xfrm>
          <a:prstGeom prst="hexagon">
            <a:avLst/>
          </a:prstGeom>
          <a:solidFill>
            <a:srgbClr val="296084"/>
          </a:solidFill>
          <a:ln>
            <a:solidFill>
              <a:srgbClr val="29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9006840" y="5440680"/>
            <a:ext cx="658368" cy="658368"/>
          </a:xfrm>
          <a:prstGeom prst="hexagon">
            <a:avLst/>
          </a:prstGeom>
          <a:solidFill>
            <a:srgbClr val="676F74"/>
          </a:solidFill>
          <a:ln>
            <a:solidFill>
              <a:srgbClr val="67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58368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29D45"/>
                </a:solidFill>
                <a:latin typeface="Aptos"/>
              </a:rPr>
              <a:t>MDATA 600 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704088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Crushed-Stone
Aggregates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35808"/>
            <a:ext cx="6217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D6E0E8"/>
                </a:solidFill>
                <a:latin typeface="Aptos"/>
              </a:rPr>
              <a:t>Progress check &amp; final scope decisions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3712463"/>
            <a:ext cx="1188720" cy="64008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977639"/>
            <a:ext cx="6583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Professor 1:1  •  Friday, September 18,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4407408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5C3CD"/>
                </a:solidFill>
                <a:latin typeface="Aptos"/>
              </a:rPr>
              <a:t>Joseph Schnee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6217920"/>
            <a:ext cx="84124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0AFBB"/>
                </a:solidFill>
                <a:latin typeface="Aptos"/>
              </a:rPr>
              <a:t>Source: final_project_outline.qmd and its September 15–16 commit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303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TWO-DAY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233"/>
                </a:solidFill>
                <a:latin typeface="Aptos"/>
              </a:rPr>
              <a:t>From outline to working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960120" cy="54864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6F74"/>
                </a:solidFill>
                <a:latin typeface="Aptos"/>
              </a:rPr>
              <a:t>The project advanced in two focused evening work sessions.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017520"/>
            <a:ext cx="10012680" cy="54864"/>
          </a:xfrm>
          <a:prstGeom prst="rect">
            <a:avLst/>
          </a:prstGeom>
          <a:solidFill>
            <a:srgbClr val="CDD2D3"/>
          </a:solidFill>
          <a:ln>
            <a:solidFill>
              <a:srgbClr val="CD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31720" y="2779776"/>
            <a:ext cx="530352" cy="530352"/>
          </a:xfrm>
          <a:prstGeom prst="ellipse">
            <a:avLst/>
          </a:prstGeom>
          <a:solidFill>
            <a:srgbClr val="2960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3432" y="221284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96084"/>
                </a:solidFill>
                <a:latin typeface="Aptos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3432" y="2459736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233"/>
                </a:solidFill>
                <a:latin typeface="Aptos"/>
              </a:rPr>
              <a:t>SEP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79" y="3520440"/>
            <a:ext cx="3246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2233"/>
                </a:solidFill>
                <a:latin typeface="Aptos"/>
              </a:rPr>
              <a:t>Established the capstone outline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133087"/>
            <a:ext cx="3520440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A30"/>
                </a:solidFill>
                <a:latin typeface="Aptos"/>
              </a:rPr>
              <a:t>Defined three research questions, documented the source landscape, and organized the report into data, EDA, modeling, and findings sections.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7452360" y="2779776"/>
            <a:ext cx="530352" cy="530352"/>
          </a:xfrm>
          <a:prstGeom prst="ellipse">
            <a:avLst/>
          </a:prstGeom>
          <a:solidFill>
            <a:srgbClr val="30848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221284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08484"/>
                </a:solidFill>
                <a:latin typeface="Aptos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2" y="2459736"/>
            <a:ext cx="914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2233"/>
                </a:solidFill>
                <a:latin typeface="Aptos"/>
              </a:rPr>
              <a:t>SEP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20440"/>
            <a:ext cx="32461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42233"/>
                </a:solidFill>
                <a:latin typeface="Aptos"/>
              </a:rPr>
              <a:t>Converted prompts into executable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133087"/>
            <a:ext cx="3520440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222A30"/>
                </a:solidFill>
                <a:latin typeface="Aptos"/>
              </a:rPr>
              <a:t>Added dataset construction, missingness checks, a histogram, correlation matrix, four predictor plots, and five linear model fits.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5468112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5577840"/>
            <a:ext cx="1837943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96084"/>
                </a:solidFill>
                <a:latin typeface="Aptos"/>
              </a:rPr>
              <a:t>+171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6016752"/>
            <a:ext cx="183794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LINES ADDED ON SEP 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1256" y="5468112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00984" y="5577840"/>
            <a:ext cx="1837943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308484"/>
                </a:solidFill>
                <a:latin typeface="Aptos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984" y="6016752"/>
            <a:ext cx="183794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LINES REPLACED/REMOVED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9824" y="5468112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59552" y="5577840"/>
            <a:ext cx="1837943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D29D45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6016752"/>
            <a:ext cx="183794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REGRESSION MODELS CODED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8392" y="5468112"/>
            <a:ext cx="2057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5577840"/>
            <a:ext cx="1837943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676F74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6016752"/>
            <a:ext cx="1837943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FILE IN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MDATA 600  •  Progress Check  •  18 September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303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CURRENT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233"/>
                </a:solidFill>
                <a:latin typeface="Aptos"/>
              </a:rPr>
              <a:t>What the outline is trying to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960120" cy="54864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6F74"/>
                </a:solidFill>
                <a:latin typeface="Aptos"/>
              </a:rPr>
              <a:t>All three questions use state-year observations from 2015–2023.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938528"/>
            <a:ext cx="1062532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1938528"/>
            <a:ext cx="164592" cy="1024128"/>
          </a:xfrm>
          <a:prstGeom prst="rect">
            <a:avLst/>
          </a:prstGeom>
          <a:solidFill>
            <a:srgbClr val="296084"/>
          </a:solidFill>
          <a:ln>
            <a:solidFill>
              <a:srgbClr val="29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67128"/>
            <a:ext cx="5669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9608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7088" y="2103120"/>
            <a:ext cx="196596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96084"/>
                </a:solidFill>
                <a:latin typeface="Aptos"/>
              </a:rPr>
              <a:t>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359152"/>
            <a:ext cx="9098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A30"/>
                </a:solidFill>
                <a:latin typeface="Aptos"/>
              </a:rPr>
              <a:t>Which construction, economic, capacity, and cost indicators best explain state-level crushed-stone production?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200400"/>
            <a:ext cx="1062532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" y="3200400"/>
            <a:ext cx="164592" cy="1024128"/>
          </a:xfrm>
          <a:prstGeom prst="rect">
            <a:avLst/>
          </a:prstGeom>
          <a:solidFill>
            <a:srgbClr val="308484"/>
          </a:solidFill>
          <a:ln>
            <a:solidFill>
              <a:srgbClr val="3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429000"/>
            <a:ext cx="5669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08484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3364992"/>
            <a:ext cx="196596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08484"/>
                </a:solidFill>
                <a:latin typeface="Aptos"/>
              </a:rPr>
              <a:t>LAGGED HIGHWAY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3621024"/>
            <a:ext cx="9098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A30"/>
                </a:solidFill>
                <a:latin typeface="Aptos"/>
              </a:rPr>
              <a:t>To what extent do prior-year highway capital outlays predict state-level production?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462272"/>
            <a:ext cx="1062532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" y="4462272"/>
            <a:ext cx="164592" cy="1024128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690872"/>
            <a:ext cx="56692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D29D45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4626864"/>
            <a:ext cx="196596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PREDICTION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088" y="4882896"/>
            <a:ext cx="9098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22A30"/>
                </a:solidFill>
                <a:latin typeface="Aptos"/>
              </a:rPr>
              <a:t>How accurately can construction GDP, highway outlays, and residential permits predict production?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" y="5879592"/>
            <a:ext cx="10625328" cy="438912"/>
          </a:xfrm>
          <a:prstGeom prst="roundRect">
            <a:avLst>
              <a:gd name="adj" fmla="val 8000"/>
            </a:avLst>
          </a:prstGeom>
          <a:solidFill>
            <a:srgbClr val="F9F1E0"/>
          </a:solidFill>
          <a:ln>
            <a:solidFill>
              <a:srgbClr val="F9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980176"/>
            <a:ext cx="101955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233"/>
                </a:solidFill>
                <a:latin typeface="Aptos"/>
              </a:rPr>
              <a:t>Current framing: explanatory analysis; crushed-stone tons are used as a proxy for demand; future forecasting is not advised.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MDATA 600  •  Progress Check  •  18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303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STATUS AGAINST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233"/>
                </a:solidFill>
                <a:latin typeface="Aptos"/>
              </a:rPr>
              <a:t>The analysis backbone is now in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960120" cy="54864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6F74"/>
                </a:solidFill>
                <a:latin typeface="Aptos"/>
              </a:rPr>
              <a:t>Working code exists for the data, exploratory, and initial modeling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883664"/>
            <a:ext cx="16642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93392"/>
            <a:ext cx="144475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96084"/>
                </a:solidFill>
                <a:latin typeface="Aptos"/>
              </a:rPr>
              <a:t>450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32304"/>
            <a:ext cx="14447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STATE-YEAR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883664"/>
            <a:ext cx="16642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1993392"/>
            <a:ext cx="144475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308484"/>
                </a:solidFill>
                <a:latin typeface="Aptos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2432304"/>
            <a:ext cx="14447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U.S. STATES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83664"/>
            <a:ext cx="184708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93392"/>
            <a:ext cx="162763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D29D45"/>
                </a:solidFill>
                <a:latin typeface="Aptos"/>
              </a:rPr>
              <a:t>2015–23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43230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ANALYSIS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883664"/>
            <a:ext cx="166420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144475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676F74"/>
                </a:solidFill>
                <a:latin typeface="Aptos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32304"/>
            <a:ext cx="14447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RQ1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883664"/>
            <a:ext cx="184708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93392"/>
            <a:ext cx="162763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96084"/>
                </a:solidFill>
                <a:latin typeface="Aptos"/>
              </a:rPr>
              <a:t>427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432304"/>
            <a:ext cx="16276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OBSERVED 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" y="3236976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438144"/>
            <a:ext cx="150876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96084"/>
                </a:solidFill>
                <a:latin typeface="Aptos"/>
              </a:rPr>
              <a:t>DATA PREP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931920"/>
            <a:ext cx="30175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A30"/>
                </a:solidFill>
                <a:latin typeface="Aptos"/>
              </a:rPr>
              <a:t>Builds residential permits, selects the RQ1 fields, checks duplicate state-year keys, and reports missingness.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5184" y="3374136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296084"/>
          </a:solidFill>
          <a:ln>
            <a:solidFill>
              <a:srgbClr val="29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42615" y="3401568"/>
            <a:ext cx="1298448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Complete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3236976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438144"/>
            <a:ext cx="150876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08484"/>
                </a:solidFill>
                <a:latin typeface="Aptos"/>
              </a:rPr>
              <a:t>EDA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3931920"/>
            <a:ext cx="30175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A30"/>
                </a:solidFill>
                <a:latin typeface="Aptos"/>
              </a:rPr>
              <a:t>Histogram and correlation matrix are coded; four predictor-versus-production plots are present but need labeling fixes.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3374136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308484"/>
          </a:solidFill>
          <a:ln>
            <a:solidFill>
              <a:srgbClr val="3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401568"/>
            <a:ext cx="1298448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236976"/>
            <a:ext cx="3419856" cy="2322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3438144"/>
            <a:ext cx="150876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29D45"/>
                </a:solidFill>
                <a:latin typeface="Aptos"/>
              </a:rPr>
              <a:t>MODELING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3931920"/>
            <a:ext cx="30175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A30"/>
                </a:solidFill>
                <a:latin typeface="Aptos"/>
              </a:rPr>
              <a:t>Four simple regressions plus one four-predictor multiple regression run; result tables and interpretation remain unwritten.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76688" y="3374136"/>
            <a:ext cx="1353312" cy="347472"/>
          </a:xfrm>
          <a:prstGeom prst="roundRect">
            <a:avLst>
              <a:gd name="adj" fmla="val 8000"/>
            </a:avLst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3401568"/>
            <a:ext cx="1298448" cy="2468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In progress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MDATA 600  •  Progress Check  •  18 September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91088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303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PROVISIONAL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233"/>
                </a:solidFill>
                <a:latin typeface="Aptos"/>
              </a:rPr>
              <a:t>Initial regressions show strong pooled associations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960120" cy="54864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6F74"/>
                </a:solidFill>
                <a:latin typeface="Aptos"/>
              </a:rPr>
              <a:t>These are in-sample results from the code currently in the outline—not final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Private nonres. spending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81528" y="2057400"/>
            <a:ext cx="4325112" cy="384048"/>
          </a:xfrm>
          <a:prstGeom prst="roundRect">
            <a:avLst>
              <a:gd name="adj" fmla="val 8000"/>
            </a:avLst>
          </a:prstGeom>
          <a:solidFill>
            <a:srgbClr val="E6E8E8"/>
          </a:solidFill>
          <a:ln>
            <a:solidFill>
              <a:srgbClr val="E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81528" y="2057400"/>
            <a:ext cx="2383136" cy="384048"/>
          </a:xfrm>
          <a:prstGeom prst="roundRect">
            <a:avLst>
              <a:gd name="adj" fmla="val 8000"/>
            </a:avLst>
          </a:prstGeom>
          <a:solidFill>
            <a:srgbClr val="296084"/>
          </a:solidFill>
          <a:ln>
            <a:solidFill>
              <a:srgbClr val="29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2093976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96084"/>
                </a:solidFill>
                <a:latin typeface="Aptos"/>
              </a:rPr>
              <a:t>R² 0.551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213055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n=427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43784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Residential permits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81528" y="2770632"/>
            <a:ext cx="4325112" cy="384048"/>
          </a:xfrm>
          <a:prstGeom prst="roundRect">
            <a:avLst>
              <a:gd name="adj" fmla="val 8000"/>
            </a:avLst>
          </a:prstGeom>
          <a:solidFill>
            <a:srgbClr val="E6E8E8"/>
          </a:solidFill>
          <a:ln>
            <a:solidFill>
              <a:srgbClr val="E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81528" y="2770632"/>
            <a:ext cx="2417737" cy="384048"/>
          </a:xfrm>
          <a:prstGeom prst="roundRect">
            <a:avLst>
              <a:gd name="adj" fmla="val 8000"/>
            </a:avLst>
          </a:prstGeom>
          <a:solidFill>
            <a:srgbClr val="308484"/>
          </a:solidFill>
          <a:ln>
            <a:solidFill>
              <a:srgbClr val="3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2807208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08484"/>
                </a:solidFill>
                <a:latin typeface="Aptos"/>
              </a:rPr>
              <a:t>R² 0.559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0568" y="2843784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n=427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57016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Highway outlays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81528" y="3483864"/>
            <a:ext cx="4325112" cy="384048"/>
          </a:xfrm>
          <a:prstGeom prst="roundRect">
            <a:avLst>
              <a:gd name="adj" fmla="val 8000"/>
            </a:avLst>
          </a:prstGeom>
          <a:solidFill>
            <a:srgbClr val="E6E8E8"/>
          </a:solidFill>
          <a:ln>
            <a:solidFill>
              <a:srgbClr val="E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81528" y="3483864"/>
            <a:ext cx="2949726" cy="384048"/>
          </a:xfrm>
          <a:prstGeom prst="roundRect">
            <a:avLst>
              <a:gd name="adj" fmla="val 8000"/>
            </a:avLst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3520440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R² 0.682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3557016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n=427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70248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Construction employment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81528" y="4197096"/>
            <a:ext cx="4325112" cy="384048"/>
          </a:xfrm>
          <a:prstGeom prst="roundRect">
            <a:avLst>
              <a:gd name="adj" fmla="val 8000"/>
            </a:avLst>
          </a:prstGeom>
          <a:solidFill>
            <a:srgbClr val="E6E8E8"/>
          </a:solidFill>
          <a:ln>
            <a:solidFill>
              <a:srgbClr val="E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81528" y="4197096"/>
            <a:ext cx="3049203" cy="384048"/>
          </a:xfrm>
          <a:prstGeom prst="roundRect">
            <a:avLst>
              <a:gd name="adj" fmla="val 8000"/>
            </a:avLst>
          </a:prstGeom>
          <a:solidFill>
            <a:srgbClr val="676F74"/>
          </a:solidFill>
          <a:ln>
            <a:solidFill>
              <a:srgbClr val="67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4233672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76F74"/>
                </a:solidFill>
                <a:latin typeface="Aptos"/>
              </a:rPr>
              <a:t>R² 0.705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270248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n=310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20574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Four-predictor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81528" y="4910328"/>
            <a:ext cx="4325112" cy="384048"/>
          </a:xfrm>
          <a:prstGeom prst="roundRect">
            <a:avLst>
              <a:gd name="adj" fmla="val 8000"/>
            </a:avLst>
          </a:prstGeom>
          <a:solidFill>
            <a:srgbClr val="E6E8E8"/>
          </a:solidFill>
          <a:ln>
            <a:solidFill>
              <a:srgbClr val="E6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081528" y="4910328"/>
            <a:ext cx="3269784" cy="384048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>
            <a:solidFill>
              <a:srgbClr val="14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4946904"/>
            <a:ext cx="71323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42233"/>
                </a:solidFill>
                <a:latin typeface="Aptos"/>
              </a:rPr>
              <a:t>R² 0.756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983480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n=310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2084831"/>
            <a:ext cx="3383280" cy="3822191"/>
          </a:xfrm>
          <a:prstGeom prst="roundRect">
            <a:avLst>
              <a:gd name="adj" fmla="val 8000"/>
            </a:avLst>
          </a:prstGeom>
          <a:solidFill>
            <a:srgbClr val="E5EEF3"/>
          </a:solidFill>
          <a:ln>
            <a:solidFill>
              <a:srgbClr val="E5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2359152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2233"/>
                </a:solidFill>
                <a:latin typeface="Aptos"/>
              </a:rPr>
              <a:t>What this suggests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2834640"/>
            <a:ext cx="2816352" cy="2743200"/>
          </a:xfrm>
          <a:prstGeom prst="rect">
            <a:avLst/>
          </a:prstGeom>
          <a:noFill/>
        </p:spPr>
        <p:txBody>
          <a:bodyPr wrap="square" lIns="73152" rIns="45720" tIns="18288">
            <a:spAutoFit/>
          </a:bodyPr>
          <a:lstStyle/>
          <a:p>
            <a:pPr>
              <a:buChar char="•"/>
              <a:spcAft>
                <a:spcPts val="800"/>
              </a:spcAft>
              <a:defRPr sz="1200">
                <a:solidFill>
                  <a:srgbClr val="222A30"/>
                </a:solidFill>
                <a:latin typeface="Aptos"/>
              </a:defRPr>
            </a:pPr>
            <a:r>
              <a:t>Highway outlays have the strongest simple relationship among the fully observed predictors (r = 0.849).</a:t>
            </a:r>
          </a:p>
          <a:p>
            <a:pPr>
              <a:buChar char="•"/>
              <a:spcAft>
                <a:spcPts val="800"/>
              </a:spcAft>
              <a:defRPr sz="1200">
                <a:solidFill>
                  <a:srgbClr val="222A30"/>
                </a:solidFill>
                <a:latin typeface="Aptos"/>
              </a:defRPr>
            </a:pPr>
            <a:r>
              <a:t>The four-predictor model reaches R² = 0.756 in the available complete cases.</a:t>
            </a:r>
          </a:p>
          <a:p>
            <a:pPr>
              <a:buChar char="•"/>
              <a:spcAft>
                <a:spcPts val="800"/>
              </a:spcAft>
              <a:defRPr sz="1200">
                <a:solidFill>
                  <a:srgbClr val="222A30"/>
                </a:solidFill>
                <a:latin typeface="Aptos"/>
              </a:defRPr>
            </a:pPr>
            <a:r>
              <a:t>State scale, repeated observations, and differing sample sizes mean these are provisional associations—not forecasting evidence.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5687568"/>
            <a:ext cx="914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R²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870448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96511" y="5870448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.25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504" y="5870448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.50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54496" y="5870448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.75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33488" y="5870448"/>
            <a:ext cx="3840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MDATA 600  •  Progress Check  •  18 September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303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EXECUTION ROADBLOCKS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233"/>
                </a:solidFill>
                <a:latin typeface="Aptos"/>
              </a:rPr>
              <a:t>Five issues to resolve before finalizing the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960120" cy="54864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6F74"/>
                </a:solidFill>
                <a:latin typeface="Aptos"/>
              </a:rPr>
              <a:t>The most important problem is a mismatch between the written missing-value rule and the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74519"/>
            <a:ext cx="5230368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12263"/>
            <a:ext cx="512064" cy="512064"/>
          </a:xfrm>
          <a:prstGeom prst="ellipse">
            <a:avLst/>
          </a:prstGeom>
          <a:solidFill>
            <a:srgbClr val="AB463A"/>
          </a:solidFill>
          <a:ln>
            <a:solidFill>
              <a:srgbClr val="AB4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120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011679"/>
            <a:ext cx="4151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33"/>
                </a:solidFill>
                <a:latin typeface="Aptos"/>
              </a:rPr>
              <a:t>Missing-data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313432"/>
            <a:ext cx="41513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A30"/>
                </a:solidFill>
                <a:latin typeface="Aptos"/>
              </a:rPr>
              <a:t>The text says 23 predictor rows were removed, but the code removes only the 23 missing target rows. Employment is missing in 126 rows, so Model 4 and Model 5 use only 310 observations.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874519"/>
            <a:ext cx="5230368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0528" y="2112263"/>
            <a:ext cx="512064" cy="512064"/>
          </a:xfrm>
          <a:prstGeom prst="ellipse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194560"/>
            <a:ext cx="5120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4" y="2011679"/>
            <a:ext cx="4151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33"/>
                </a:solidFill>
                <a:latin typeface="Aptos"/>
              </a:rPr>
              <a:t>Plot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2313432"/>
            <a:ext cx="41513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A30"/>
                </a:solidFill>
                <a:latin typeface="Aptos"/>
              </a:rPr>
              <a:t>Several plot titles and x-axis labels describe different variables than the code actually plots.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172968"/>
            <a:ext cx="5230368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410711"/>
            <a:ext cx="512064" cy="512064"/>
          </a:xfrm>
          <a:prstGeom prst="ellipse">
            <a:avLst/>
          </a:prstGeom>
          <a:solidFill>
            <a:srgbClr val="296084"/>
          </a:solidFill>
          <a:ln>
            <a:solidFill>
              <a:srgbClr val="296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93008"/>
            <a:ext cx="5120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310127"/>
            <a:ext cx="4151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33"/>
                </a:solidFill>
                <a:latin typeface="Aptos"/>
              </a:rPr>
              <a:t>Portability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3611879"/>
            <a:ext cx="41513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A30"/>
                </a:solidFill>
                <a:latin typeface="Aptos"/>
              </a:rPr>
              <a:t>The input CSV is referenced with an absolute local path, so the document will not run on another machine without editing.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3172968"/>
            <a:ext cx="5230368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0528" y="3410711"/>
            <a:ext cx="512064" cy="512064"/>
          </a:xfrm>
          <a:prstGeom prst="ellipse">
            <a:avLst/>
          </a:prstGeom>
          <a:solidFill>
            <a:srgbClr val="308484"/>
          </a:solidFill>
          <a:ln>
            <a:solidFill>
              <a:srgbClr val="3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493008"/>
            <a:ext cx="5120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310127"/>
            <a:ext cx="415137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33"/>
                </a:solidFill>
                <a:latin typeface="Aptos"/>
              </a:rPr>
              <a:t>Results narrative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3611879"/>
            <a:ext cx="4151376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A30"/>
                </a:solidFill>
                <a:latin typeface="Aptos"/>
              </a:rPr>
              <a:t>Interpretations under the summary table and histogram are still placeholders; coefficient and model-fit sections are not yet populated.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471416"/>
            <a:ext cx="10826496" cy="1069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709159"/>
            <a:ext cx="512064" cy="512064"/>
          </a:xfrm>
          <a:prstGeom prst="ellipse">
            <a:avLst/>
          </a:prstGeom>
          <a:solidFill>
            <a:srgbClr val="676F74"/>
          </a:solidFill>
          <a:ln>
            <a:solidFill>
              <a:srgbClr val="676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91455"/>
            <a:ext cx="51206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608576"/>
            <a:ext cx="97475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233"/>
                </a:solidFill>
                <a:latin typeface="Aptos"/>
              </a:rPr>
              <a:t>Scope-to-code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91056" y="4910327"/>
            <a:ext cx="9747504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22A30"/>
                </a:solidFill>
                <a:latin typeface="Aptos"/>
              </a:rPr>
              <a:t>The code currently analyzes RQ1. Prior-year highway prediction and formal predictive accuracy are stated as RQ2/RQ3 but are not implemented.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MDATA 600  •  Progress Check  •  18 September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65760"/>
            <a:ext cx="5303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29D45"/>
                </a:solidFill>
                <a:latin typeface="Aptos"/>
              </a:rPr>
              <a:t>SCOPE DECISION FOR FRIDAY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42233"/>
                </a:solidFill>
                <a:latin typeface="Aptos"/>
              </a:rPr>
              <a:t>Recommendation: lock one explanatory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960120" cy="54864"/>
          </a:xfrm>
          <a:prstGeom prst="rect">
            <a:avLst/>
          </a:prstGeom>
          <a:solidFill>
            <a:srgbClr val="D29D45"/>
          </a:solidFill>
          <a:ln>
            <a:solidFill>
              <a:srgbClr val="D29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76F74"/>
                </a:solidFill>
                <a:latin typeface="Aptos"/>
              </a:rPr>
              <a:t>This aligns the final scope with the code that is already furthest along and can be completed defensibly.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6931152" cy="3456432"/>
          </a:xfrm>
          <a:prstGeom prst="roundRect">
            <a:avLst>
              <a:gd name="adj" fmla="val 8000"/>
            </a:avLst>
          </a:prstGeom>
          <a:solidFill>
            <a:srgbClr val="E5EEF3"/>
          </a:solidFill>
          <a:ln>
            <a:solidFill>
              <a:srgbClr val="E5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0312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96084"/>
                </a:solidFill>
                <a:latin typeface="Aptos"/>
              </a:rPr>
              <a:t>Recommended final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532888"/>
            <a:ext cx="6327648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233"/>
                </a:solidFill>
                <a:latin typeface="Aptos"/>
              </a:rPr>
              <a:t>Which selected construction and economic indicators are most strongly associated with state-level crushed-stone production from 2015–2023?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968496"/>
            <a:ext cx="6583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08484"/>
                </a:solidFill>
                <a:latin typeface="Aptos"/>
              </a:rPr>
              <a:t>Keep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315968"/>
            <a:ext cx="632764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22A30"/>
                </a:solidFill>
                <a:latin typeface="Aptos"/>
              </a:rPr>
              <a:t>State-year design  •  2015–2023  •  Four predictors  •  Multiple linear regression  •  Association-only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847088"/>
            <a:ext cx="3456432" cy="3456432"/>
          </a:xfrm>
          <a:prstGeom prst="roundRect">
            <a:avLst>
              <a:gd name="adj" fmla="val 8000"/>
            </a:avLst>
          </a:prstGeom>
          <a:solidFill>
            <a:srgbClr val="F9F1E0"/>
          </a:solidFill>
          <a:ln>
            <a:solidFill>
              <a:srgbClr val="F9F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2103120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42233"/>
                </a:solidFill>
                <a:latin typeface="Aptos"/>
              </a:rPr>
              <a:t>Decisions requested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679192"/>
            <a:ext cx="365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29D45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660904"/>
            <a:ext cx="2249424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Approve consolidating the three questions into one explanatory question.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3483864"/>
            <a:ext cx="365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29D45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3465576"/>
            <a:ext cx="2249424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Confirm the four-predictor set and complete-case rule.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4288536"/>
            <a:ext cx="3657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D29D45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4270248"/>
            <a:ext cx="2249424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22A30"/>
                </a:solidFill>
                <a:latin typeface="Aptos"/>
              </a:rPr>
              <a:t>Confirm whether repeated-state structure needs a course-level adjustment or limitation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5605272"/>
            <a:ext cx="10680192" cy="621792"/>
          </a:xfrm>
          <a:prstGeom prst="roundRect">
            <a:avLst>
              <a:gd name="adj" fmla="val 8000"/>
            </a:avLst>
          </a:prstGeom>
          <a:solidFill>
            <a:srgbClr val="142233"/>
          </a:solidFill>
          <a:ln>
            <a:solidFill>
              <a:srgbClr val="14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779008"/>
            <a:ext cx="102412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After approval: fix missingness + labels → complete model tables and diagnostics → write findings → render and proofread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MDATA 600  •  Progress Check  •  18 September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91088" y="647395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76F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